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Sora SemiBold"/>
      <p:regular r:id="rId20"/>
      <p:bold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IBM Plex Sans Medium"/>
      <p:regular r:id="rId26"/>
      <p:bold r:id="rId27"/>
      <p:italic r:id="rId28"/>
      <p:boldItalic r:id="rId29"/>
    </p:embeddedFont>
    <p:embeddedFont>
      <p:font typeface="Sora Light"/>
      <p:regular r:id="rId30"/>
      <p:bold r:id="rId31"/>
    </p:embeddedFont>
    <p:embeddedFont>
      <p:font typeface="Sora ExtraLight"/>
      <p:regular r:id="rId32"/>
      <p:bold r:id="rId33"/>
    </p:embeddedFont>
    <p:embeddedFont>
      <p:font typeface="Sora"/>
      <p:regular r:id="rId34"/>
      <p:bold r:id="rId35"/>
    </p:embeddedFont>
    <p:embeddedFont>
      <p:font typeface="Sora Medium"/>
      <p:regular r:id="rId36"/>
      <p:bold r:id="rId37"/>
    </p:embeddedFont>
    <p:embeddedFont>
      <p:font typeface="IBM Plex Sa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italic.fntdata"/><Relationship Id="rId41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Light-bold.fntdata"/><Relationship Id="rId30" Type="http://schemas.openxmlformats.org/officeDocument/2006/relationships/font" Target="fonts/SoraLight-regular.fntdata"/><Relationship Id="rId33" Type="http://schemas.openxmlformats.org/officeDocument/2006/relationships/font" Target="fonts/SoraExtraLight-bold.fntdata"/><Relationship Id="rId32" Type="http://schemas.openxmlformats.org/officeDocument/2006/relationships/font" Target="fonts/SoraExtraLight-regular.fntdata"/><Relationship Id="rId35" Type="http://schemas.openxmlformats.org/officeDocument/2006/relationships/font" Target="fonts/Sora-bold.fntdata"/><Relationship Id="rId34" Type="http://schemas.openxmlformats.org/officeDocument/2006/relationships/font" Target="fonts/Sora-regular.fntdata"/><Relationship Id="rId37" Type="http://schemas.openxmlformats.org/officeDocument/2006/relationships/font" Target="fonts/SoraMedium-bold.fntdata"/><Relationship Id="rId36" Type="http://schemas.openxmlformats.org/officeDocument/2006/relationships/font" Target="fonts/SoraMedium-regular.fntdata"/><Relationship Id="rId39" Type="http://schemas.openxmlformats.org/officeDocument/2006/relationships/font" Target="fonts/IBMPlexSansSemiBold-bold.fntdata"/><Relationship Id="rId38" Type="http://schemas.openxmlformats.org/officeDocument/2006/relationships/font" Target="fonts/IBMPlexSansSemiBold-regular.fntdata"/><Relationship Id="rId20" Type="http://schemas.openxmlformats.org/officeDocument/2006/relationships/font" Target="fonts/SoraSemiBold-regular.fntdata"/><Relationship Id="rId22" Type="http://schemas.openxmlformats.org/officeDocument/2006/relationships/font" Target="fonts/Inter-regular.fntdata"/><Relationship Id="rId21" Type="http://schemas.openxmlformats.org/officeDocument/2006/relationships/font" Target="fonts/SoraSemiBold-bold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26" Type="http://schemas.openxmlformats.org/officeDocument/2006/relationships/font" Target="fonts/IBMPlexSansMedium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IBMPlexSansMedium-italic.fntdata"/><Relationship Id="rId27" Type="http://schemas.openxmlformats.org/officeDocument/2006/relationships/font" Target="fonts/IBMPlexSansMedium-bold.fntdata"/><Relationship Id="rId29" Type="http://schemas.openxmlformats.org/officeDocument/2006/relationships/font" Target="fonts/IBMPlexSans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19" Type="http://schemas.openxmlformats.org/officeDocument/2006/relationships/font" Target="fonts/IBMPlexSans-boldItalic.fntdata"/><Relationship Id="rId18" Type="http://schemas.openxmlformats.org/officeDocument/2006/relationships/font" Target="fonts/IBMPlex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6bc6cb7218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6bc6cb7218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6d71547a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6d71547a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6d71547ad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6d71547ad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6d71547ad9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6d71547ad9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6d71547ad9_0_3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6d71547ad9_0_3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6d71547ad9_0_2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6d71547ad9_0_2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6d71547ad9_0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6d71547ad9_0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6d71547ad9_0_2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6d71547ad9_0_2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6d71547ad9_0_2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6d71547ad9_0_2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6bc6cb7218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6bc6cb7218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74600" y="3185400"/>
            <a:ext cx="6927000" cy="10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O</a:t>
            </a:r>
            <a:r>
              <a:rPr lang="en" sz="3000">
                <a:solidFill>
                  <a:schemeClr val="dk2"/>
                </a:solidFill>
              </a:rPr>
              <a:t>CR-Enhanced Word Document Generation from Images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9" name="Google Shape;889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ra"/>
                <a:ea typeface="Sora"/>
                <a:cs typeface="Sora"/>
                <a:sym typeface="Sora"/>
              </a:rPr>
              <a:t>Presented By</a:t>
            </a:r>
            <a:endParaRPr sz="14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ra"/>
                <a:ea typeface="Sora"/>
                <a:cs typeface="Sora"/>
                <a:sym typeface="Sora"/>
              </a:rPr>
              <a:t>Rahul Son Boro</a:t>
            </a:r>
            <a:endParaRPr sz="14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0" name="Google Shape;890;p51"/>
          <p:cNvSpPr txBox="1"/>
          <p:nvPr/>
        </p:nvSpPr>
        <p:spPr>
          <a:xfrm>
            <a:off x="1476900" y="345700"/>
            <a:ext cx="2972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APT Software Avenues Pvt. </a:t>
            </a: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td.</a:t>
            </a:r>
            <a:endParaRPr b="1"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3DFD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3DFD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1" name="Google Shape;891;p51"/>
          <p:cNvSpPr txBox="1"/>
          <p:nvPr/>
        </p:nvSpPr>
        <p:spPr>
          <a:xfrm>
            <a:off x="130200" y="4291350"/>
            <a:ext cx="4922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3DFD6"/>
                </a:solidFill>
                <a:latin typeface="Sora"/>
                <a:ea typeface="Sora"/>
                <a:cs typeface="Sora"/>
                <a:sym typeface="Sora"/>
              </a:rPr>
              <a:t>Presented By</a:t>
            </a:r>
            <a:endParaRPr>
              <a:solidFill>
                <a:srgbClr val="E3DFD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3DFD6"/>
                </a:solidFill>
                <a:latin typeface="Sora"/>
                <a:ea typeface="Sora"/>
                <a:cs typeface="Sora"/>
                <a:sym typeface="Sora"/>
              </a:rPr>
              <a:t>Rahul Son Boro</a:t>
            </a:r>
            <a:endParaRPr>
              <a:solidFill>
                <a:srgbClr val="E3DFD6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892" name="Google Shape;89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25" y="228600"/>
            <a:ext cx="870075" cy="87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51"/>
          <p:cNvSpPr txBox="1"/>
          <p:nvPr/>
        </p:nvSpPr>
        <p:spPr>
          <a:xfrm>
            <a:off x="-291000" y="2791050"/>
            <a:ext cx="42102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Project Presentation</a:t>
            </a:r>
            <a:endParaRPr b="1" sz="1700" u="sng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4" name="Google Shape;894;p51"/>
          <p:cNvSpPr txBox="1"/>
          <p:nvPr/>
        </p:nvSpPr>
        <p:spPr>
          <a:xfrm>
            <a:off x="1288050" y="1478500"/>
            <a:ext cx="3349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Institute Of Technology Kokrajhar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5" name="Google Shape;89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650" y="1264688"/>
            <a:ext cx="1073623" cy="1073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2"/>
          <p:cNvSpPr/>
          <p:nvPr/>
        </p:nvSpPr>
        <p:spPr>
          <a:xfrm>
            <a:off x="283884" y="1140663"/>
            <a:ext cx="544800" cy="544800"/>
          </a:xfrm>
          <a:prstGeom prst="ellipse">
            <a:avLst/>
          </a:prstGeom>
          <a:solidFill>
            <a:srgbClr val="41CC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1" name="Google Shape;901;p52"/>
          <p:cNvSpPr/>
          <p:nvPr/>
        </p:nvSpPr>
        <p:spPr>
          <a:xfrm>
            <a:off x="283884" y="2151025"/>
            <a:ext cx="544800" cy="544800"/>
          </a:xfrm>
          <a:prstGeom prst="ellipse">
            <a:avLst/>
          </a:prstGeom>
          <a:solidFill>
            <a:srgbClr val="41CC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2" name="Google Shape;902;p52"/>
          <p:cNvSpPr/>
          <p:nvPr/>
        </p:nvSpPr>
        <p:spPr>
          <a:xfrm>
            <a:off x="283884" y="3085213"/>
            <a:ext cx="544800" cy="544800"/>
          </a:xfrm>
          <a:prstGeom prst="ellipse">
            <a:avLst/>
          </a:prstGeom>
          <a:solidFill>
            <a:srgbClr val="41CC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3" name="Google Shape;903;p52"/>
          <p:cNvSpPr/>
          <p:nvPr/>
        </p:nvSpPr>
        <p:spPr>
          <a:xfrm>
            <a:off x="283884" y="4019375"/>
            <a:ext cx="544800" cy="544800"/>
          </a:xfrm>
          <a:prstGeom prst="ellipse">
            <a:avLst/>
          </a:prstGeom>
          <a:solidFill>
            <a:srgbClr val="41CC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4" name="Google Shape;904;p52"/>
          <p:cNvSpPr txBox="1"/>
          <p:nvPr/>
        </p:nvSpPr>
        <p:spPr>
          <a:xfrm>
            <a:off x="283850" y="285900"/>
            <a:ext cx="4227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35353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Contents</a:t>
            </a:r>
            <a:endParaRPr b="1" sz="3600">
              <a:solidFill>
                <a:srgbClr val="35353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5" name="Google Shape;905;p52"/>
          <p:cNvSpPr txBox="1"/>
          <p:nvPr/>
        </p:nvSpPr>
        <p:spPr>
          <a:xfrm>
            <a:off x="1082450" y="2249125"/>
            <a:ext cx="36813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 Conversion Pipeline: How It Works</a:t>
            </a:r>
            <a:endParaRPr b="1" sz="1600"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6" name="Google Shape;906;p52"/>
          <p:cNvSpPr txBox="1"/>
          <p:nvPr/>
        </p:nvSpPr>
        <p:spPr>
          <a:xfrm>
            <a:off x="1082450" y="1238775"/>
            <a:ext cx="36813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Introduction: The Problem &amp; My Solution</a:t>
            </a:r>
            <a:endParaRPr b="1" sz="1600"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7" name="Google Shape;907;p52"/>
          <p:cNvSpPr txBox="1"/>
          <p:nvPr/>
        </p:nvSpPr>
        <p:spPr>
          <a:xfrm>
            <a:off x="5571675" y="1194975"/>
            <a:ext cx="2752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Results</a:t>
            </a:r>
            <a:endParaRPr b="1" sz="1600"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8" name="Google Shape;908;p52"/>
          <p:cNvSpPr txBox="1"/>
          <p:nvPr/>
        </p:nvSpPr>
        <p:spPr>
          <a:xfrm>
            <a:off x="1082450" y="4073675"/>
            <a:ext cx="3797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53535"/>
                </a:solidFill>
                <a:latin typeface="Sora"/>
                <a:ea typeface="Sora"/>
                <a:cs typeface="Sora"/>
                <a:sym typeface="Sora"/>
              </a:rPr>
              <a:t>System Architecture &amp; Tech Stack</a:t>
            </a:r>
            <a:endParaRPr b="1" sz="1600"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9" name="Google Shape;909;p52"/>
          <p:cNvSpPr/>
          <p:nvPr/>
        </p:nvSpPr>
        <p:spPr>
          <a:xfrm>
            <a:off x="4829859" y="1140675"/>
            <a:ext cx="544800" cy="544800"/>
          </a:xfrm>
          <a:prstGeom prst="ellipse">
            <a:avLst/>
          </a:prstGeom>
          <a:solidFill>
            <a:srgbClr val="41CC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Google Shape;910;p52"/>
          <p:cNvSpPr/>
          <p:nvPr/>
        </p:nvSpPr>
        <p:spPr>
          <a:xfrm>
            <a:off x="4876809" y="2151025"/>
            <a:ext cx="544800" cy="544800"/>
          </a:xfrm>
          <a:prstGeom prst="ellipse">
            <a:avLst/>
          </a:prstGeom>
          <a:solidFill>
            <a:srgbClr val="41CC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52"/>
          <p:cNvSpPr/>
          <p:nvPr/>
        </p:nvSpPr>
        <p:spPr>
          <a:xfrm>
            <a:off x="4876800" y="3085225"/>
            <a:ext cx="544800" cy="544800"/>
          </a:xfrm>
          <a:prstGeom prst="ellipse">
            <a:avLst/>
          </a:prstGeom>
          <a:solidFill>
            <a:srgbClr val="41CC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2" name="Google Shape;912;p52"/>
          <p:cNvSpPr txBox="1"/>
          <p:nvPr/>
        </p:nvSpPr>
        <p:spPr>
          <a:xfrm>
            <a:off x="1061450" y="3139500"/>
            <a:ext cx="36813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Key Features &amp; Differentiators</a:t>
            </a:r>
            <a:endParaRPr b="1" sz="1600"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3" name="Google Shape;913;p52"/>
          <p:cNvSpPr txBox="1"/>
          <p:nvPr/>
        </p:nvSpPr>
        <p:spPr>
          <a:xfrm>
            <a:off x="5571675" y="2205325"/>
            <a:ext cx="24615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53535"/>
                </a:solidFill>
                <a:latin typeface="Sora"/>
                <a:ea typeface="Sora"/>
                <a:cs typeface="Sora"/>
                <a:sym typeface="Sora"/>
              </a:rPr>
              <a:t>Impact &amp; Future Vision</a:t>
            </a:r>
            <a:endParaRPr b="1" sz="1600"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4" name="Google Shape;914;p52"/>
          <p:cNvSpPr txBox="1"/>
          <p:nvPr/>
        </p:nvSpPr>
        <p:spPr>
          <a:xfrm>
            <a:off x="5571675" y="3119700"/>
            <a:ext cx="24615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53535"/>
                </a:solidFill>
                <a:latin typeface="Sora"/>
                <a:ea typeface="Sora"/>
                <a:cs typeface="Sora"/>
                <a:sym typeface="Sora"/>
              </a:rPr>
              <a:t>Q&amp;A / Thank You</a:t>
            </a:r>
            <a:endParaRPr b="1" sz="1600"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3"/>
          <p:cNvSpPr txBox="1"/>
          <p:nvPr>
            <p:ph type="title"/>
          </p:nvPr>
        </p:nvSpPr>
        <p:spPr>
          <a:xfrm>
            <a:off x="332100" y="283575"/>
            <a:ext cx="66654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Sora"/>
                <a:ea typeface="Sora"/>
                <a:cs typeface="Sora"/>
                <a:sym typeface="Sora"/>
              </a:rPr>
              <a:t>Introduction: The Problem &amp; My Solution</a:t>
            </a:r>
            <a:endParaRPr b="1" sz="35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3"/>
          <p:cNvSpPr txBox="1"/>
          <p:nvPr/>
        </p:nvSpPr>
        <p:spPr>
          <a:xfrm>
            <a:off x="309675" y="1727375"/>
            <a:ext cx="6585900" cy="3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latin typeface="Sora"/>
                <a:ea typeface="Sora"/>
                <a:cs typeface="Sora"/>
                <a:sym typeface="Sora"/>
              </a:rPr>
              <a:t>The Problem:</a:t>
            </a:r>
            <a:endParaRPr b="1" sz="1800">
              <a:latin typeface="Sora"/>
              <a:ea typeface="Sora"/>
              <a:cs typeface="Sora"/>
              <a:sym typeface="So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Sora"/>
              <a:buChar char="●"/>
            </a:pPr>
            <a:r>
              <a:rPr lang="en" sz="1800">
                <a:latin typeface="Sora"/>
                <a:ea typeface="Sora"/>
                <a:cs typeface="Sora"/>
                <a:sym typeface="Sora"/>
              </a:rPr>
              <a:t>Information is trapped in images.</a:t>
            </a:r>
            <a:endParaRPr sz="1800">
              <a:latin typeface="Sora"/>
              <a:ea typeface="Sora"/>
              <a:cs typeface="Sora"/>
              <a:sym typeface="So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ra"/>
              <a:buChar char="●"/>
            </a:pPr>
            <a:r>
              <a:rPr lang="en" sz="1800">
                <a:latin typeface="Sora"/>
                <a:ea typeface="Sora"/>
                <a:cs typeface="Sora"/>
                <a:sym typeface="Sora"/>
              </a:rPr>
              <a:t>Standard OCR loses all formatting.</a:t>
            </a:r>
            <a:endParaRPr sz="1800">
              <a:latin typeface="Sora"/>
              <a:ea typeface="Sora"/>
              <a:cs typeface="Sora"/>
              <a:sym typeface="So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ra"/>
              <a:buChar char="●"/>
            </a:pPr>
            <a:r>
              <a:rPr lang="en" sz="1800">
                <a:latin typeface="Sora"/>
                <a:ea typeface="Sora"/>
                <a:cs typeface="Sora"/>
                <a:sym typeface="Sora"/>
              </a:rPr>
              <a:t>Tables and code are broken.</a:t>
            </a:r>
            <a:endParaRPr sz="18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latin typeface="Sora"/>
                <a:ea typeface="Sora"/>
                <a:cs typeface="Sora"/>
                <a:sym typeface="Sora"/>
              </a:rPr>
              <a:t>My Solution:</a:t>
            </a:r>
            <a:endParaRPr b="1" sz="1800">
              <a:latin typeface="Sora"/>
              <a:ea typeface="Sora"/>
              <a:cs typeface="Sora"/>
              <a:sym typeface="So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Sora"/>
              <a:buChar char="●"/>
            </a:pPr>
            <a:r>
              <a:rPr lang="en" sz="1800">
                <a:latin typeface="Sora"/>
                <a:ea typeface="Sora"/>
                <a:cs typeface="Sora"/>
                <a:sym typeface="Sora"/>
              </a:rPr>
              <a:t>Intelligent two-stage conversion pipeline.</a:t>
            </a:r>
            <a:endParaRPr sz="1800">
              <a:latin typeface="Sora"/>
              <a:ea typeface="Sora"/>
              <a:cs typeface="Sora"/>
              <a:sym typeface="So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ra"/>
              <a:buChar char="●"/>
            </a:pPr>
            <a:r>
              <a:rPr lang="en" sz="1800">
                <a:latin typeface="Sora"/>
                <a:ea typeface="Sora"/>
                <a:cs typeface="Sora"/>
                <a:sym typeface="Sora"/>
              </a:rPr>
              <a:t>Preserves structure, tables, and code.</a:t>
            </a:r>
            <a:endParaRPr sz="1800">
              <a:latin typeface="Sora"/>
              <a:ea typeface="Sora"/>
              <a:cs typeface="Sora"/>
              <a:sym typeface="So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ra"/>
              <a:buChar char="●"/>
            </a:pPr>
            <a:r>
              <a:rPr lang="en" sz="1800">
                <a:latin typeface="Sora"/>
                <a:ea typeface="Sora"/>
                <a:cs typeface="Sora"/>
                <a:sym typeface="Sora"/>
              </a:rPr>
              <a:t>Creates fully formatted, editable documents.</a:t>
            </a:r>
            <a:endParaRPr sz="18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4"/>
          <p:cNvSpPr txBox="1"/>
          <p:nvPr>
            <p:ph idx="2" type="title"/>
          </p:nvPr>
        </p:nvSpPr>
        <p:spPr>
          <a:xfrm>
            <a:off x="343625" y="177650"/>
            <a:ext cx="7601700" cy="711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Sora"/>
                <a:ea typeface="Sora"/>
                <a:cs typeface="Sora"/>
                <a:sym typeface="Sora"/>
              </a:rPr>
              <a:t>The Conversion Pipeline: How It Work</a:t>
            </a:r>
            <a:r>
              <a:rPr b="1" lang="en" sz="3500">
                <a:latin typeface="Sora"/>
                <a:ea typeface="Sora"/>
                <a:cs typeface="Sora"/>
                <a:sym typeface="Sora"/>
              </a:rPr>
              <a:t>s</a:t>
            </a:r>
            <a:endParaRPr b="1" sz="35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54"/>
          <p:cNvSpPr/>
          <p:nvPr/>
        </p:nvSpPr>
        <p:spPr>
          <a:xfrm flipH="1">
            <a:off x="1039325" y="1574850"/>
            <a:ext cx="1770000" cy="540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Stage 1: </a:t>
            </a:r>
            <a:endParaRPr b="1"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7" name="Google Shape;927;p54"/>
          <p:cNvSpPr/>
          <p:nvPr/>
        </p:nvSpPr>
        <p:spPr>
          <a:xfrm flipH="1">
            <a:off x="5196800" y="1612200"/>
            <a:ext cx="1828800" cy="465300"/>
          </a:xfrm>
          <a:prstGeom prst="roundRect">
            <a:avLst>
              <a:gd fmla="val 5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Stage 2:</a:t>
            </a:r>
            <a:endParaRPr b="1" sz="18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8" name="Google Shape;928;p54"/>
          <p:cNvSpPr txBox="1"/>
          <p:nvPr>
            <p:ph idx="1" type="subTitle"/>
          </p:nvPr>
        </p:nvSpPr>
        <p:spPr>
          <a:xfrm>
            <a:off x="656825" y="2213175"/>
            <a:ext cx="2993400" cy="5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/>
              <a:t>Image to Markdown</a:t>
            </a:r>
            <a:endParaRPr b="1" sz="1800"/>
          </a:p>
        </p:txBody>
      </p:sp>
      <p:sp>
        <p:nvSpPr>
          <p:cNvPr id="929" name="Google Shape;929;p54"/>
          <p:cNvSpPr txBox="1"/>
          <p:nvPr>
            <p:ph idx="4294967295" type="body"/>
          </p:nvPr>
        </p:nvSpPr>
        <p:spPr>
          <a:xfrm>
            <a:off x="275825" y="2623550"/>
            <a:ext cx="3873000" cy="21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Input:</a:t>
            </a:r>
            <a:r>
              <a:rPr lang="en" sz="1500">
                <a:solidFill>
                  <a:srgbClr val="000000"/>
                </a:solidFill>
              </a:rPr>
              <a:t> Starts with any image or PDF.</a:t>
            </a:r>
            <a:endParaRPr sz="1500">
              <a:solidFill>
                <a:srgbClr val="000000"/>
              </a:solidFill>
            </a:endParaRPr>
          </a:p>
          <a:p>
            <a:pPr indent="-152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Analyze:</a:t>
            </a:r>
            <a:r>
              <a:rPr lang="en" sz="1500">
                <a:solidFill>
                  <a:srgbClr val="000000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highlight>
                  <a:srgbClr val="9FC5E8"/>
                </a:highlight>
              </a:rPr>
              <a:t>PP-StructureV3</a:t>
            </a:r>
            <a:r>
              <a:rPr lang="en" sz="1500">
                <a:solidFill>
                  <a:srgbClr val="000000"/>
                </a:solidFill>
                <a:highlight>
                  <a:srgbClr val="9FC5E8"/>
                </a:highlight>
              </a:rPr>
              <a:t> </a:t>
            </a:r>
            <a:r>
              <a:rPr lang="en" sz="1500">
                <a:solidFill>
                  <a:srgbClr val="000000"/>
                </a:solidFill>
              </a:rPr>
              <a:t>understands document layout.</a:t>
            </a:r>
            <a:endParaRPr sz="1500">
              <a:solidFill>
                <a:srgbClr val="000000"/>
              </a:solidFill>
            </a:endParaRPr>
          </a:p>
          <a:p>
            <a:pPr indent="-152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Extract:</a:t>
            </a:r>
            <a:r>
              <a:rPr lang="en" sz="1500">
                <a:solidFill>
                  <a:srgbClr val="000000"/>
                </a:solidFill>
              </a:rPr>
              <a:t> Identifies text, tables, and images.</a:t>
            </a:r>
            <a:endParaRPr sz="1500">
              <a:solidFill>
                <a:srgbClr val="000000"/>
              </a:solidFill>
            </a:endParaRPr>
          </a:p>
          <a:p>
            <a:pPr indent="-152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Output:</a:t>
            </a:r>
            <a:r>
              <a:rPr lang="en" sz="1500">
                <a:solidFill>
                  <a:srgbClr val="000000"/>
                </a:solidFill>
              </a:rPr>
              <a:t> Generates a structured Markdown file.</a:t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30" name="Google Shape;930;p54"/>
          <p:cNvSpPr txBox="1"/>
          <p:nvPr>
            <p:ph idx="4294967295" type="subTitle"/>
          </p:nvPr>
        </p:nvSpPr>
        <p:spPr>
          <a:xfrm>
            <a:off x="4865675" y="2149350"/>
            <a:ext cx="29019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Markdown to DOCX</a:t>
            </a:r>
            <a:endParaRPr b="1" sz="1800"/>
          </a:p>
        </p:txBody>
      </p:sp>
      <p:sp>
        <p:nvSpPr>
          <p:cNvPr id="931" name="Google Shape;931;p54"/>
          <p:cNvSpPr txBox="1"/>
          <p:nvPr>
            <p:ph idx="4294967295" type="body"/>
          </p:nvPr>
        </p:nvSpPr>
        <p:spPr>
          <a:xfrm>
            <a:off x="4448850" y="2623550"/>
            <a:ext cx="4300500" cy="20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Parse:</a:t>
            </a:r>
            <a:r>
              <a:rPr lang="en" sz="1500">
                <a:solidFill>
                  <a:srgbClr val="000000"/>
                </a:solidFill>
              </a:rPr>
              <a:t> Custom converter reads the Markdown.</a:t>
            </a:r>
            <a:endParaRPr sz="1500">
              <a:solidFill>
                <a:srgbClr val="000000"/>
              </a:solidFill>
            </a:endParaRPr>
          </a:p>
          <a:p>
            <a:pPr indent="-152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Reconstruct:</a:t>
            </a:r>
            <a:r>
              <a:rPr lang="en" sz="1500">
                <a:solidFill>
                  <a:srgbClr val="000000"/>
                </a:solidFill>
              </a:rPr>
              <a:t> Rebuilds content with rich formatting.</a:t>
            </a:r>
            <a:endParaRPr sz="1500">
              <a:solidFill>
                <a:srgbClr val="000000"/>
              </a:solidFill>
            </a:endParaRPr>
          </a:p>
          <a:p>
            <a:pPr indent="-152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Apply Styles:</a:t>
            </a:r>
            <a:r>
              <a:rPr lang="en" sz="1500">
                <a:solidFill>
                  <a:srgbClr val="000000"/>
                </a:solidFill>
              </a:rPr>
              <a:t> Adds headings, code blocks, etc.</a:t>
            </a:r>
            <a:endParaRPr sz="1500">
              <a:solidFill>
                <a:srgbClr val="000000"/>
              </a:solidFill>
            </a:endParaRPr>
          </a:p>
          <a:p>
            <a:pPr indent="-152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Output:</a:t>
            </a:r>
            <a:r>
              <a:rPr lang="en" sz="1500">
                <a:solidFill>
                  <a:srgbClr val="000000"/>
                </a:solidFill>
              </a:rPr>
              <a:t> Creates a polished, editable DOCX file.</a:t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5"/>
          <p:cNvSpPr txBox="1"/>
          <p:nvPr>
            <p:ph idx="2" type="body"/>
          </p:nvPr>
        </p:nvSpPr>
        <p:spPr>
          <a:xfrm>
            <a:off x="3671500" y="1666650"/>
            <a:ext cx="5079900" cy="31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High-Fidelity Table Reconstruction.</a:t>
            </a:r>
            <a:endParaRPr sz="18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Full Syntax Highlighting for Code.</a:t>
            </a:r>
            <a:endParaRPr sz="18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Dynamic Mermaid Diagram Rendering.</a:t>
            </a:r>
            <a:endParaRPr sz="18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Preserves Complex Document Structures.</a:t>
            </a:r>
            <a:endParaRPr sz="18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Creates Polished, Ready-to-Edit Documents.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7" name="Google Shape;937;p55"/>
          <p:cNvSpPr txBox="1"/>
          <p:nvPr>
            <p:ph idx="3" type="title"/>
          </p:nvPr>
        </p:nvSpPr>
        <p:spPr>
          <a:xfrm>
            <a:off x="115025" y="502775"/>
            <a:ext cx="3905400" cy="1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Sora"/>
                <a:ea typeface="Sora"/>
                <a:cs typeface="Sora"/>
                <a:sym typeface="Sora"/>
              </a:rPr>
              <a:t>Key Features &amp; Differentiators</a:t>
            </a:r>
            <a:endParaRPr b="1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6"/>
          <p:cNvSpPr txBox="1"/>
          <p:nvPr>
            <p:ph idx="2" type="title"/>
          </p:nvPr>
        </p:nvSpPr>
        <p:spPr>
          <a:xfrm>
            <a:off x="1630950" y="721475"/>
            <a:ext cx="17754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Architecture</a:t>
            </a:r>
            <a:endParaRPr sz="170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43" name="Google Shape;943;p56"/>
          <p:cNvSpPr txBox="1"/>
          <p:nvPr>
            <p:ph idx="4" type="title"/>
          </p:nvPr>
        </p:nvSpPr>
        <p:spPr>
          <a:xfrm>
            <a:off x="5529700" y="721475"/>
            <a:ext cx="22965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Tech Stack</a:t>
            </a:r>
            <a:endParaRPr b="1" sz="1600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44" name="Google Shape;944;p56"/>
          <p:cNvSpPr txBox="1"/>
          <p:nvPr>
            <p:ph idx="16" type="body"/>
          </p:nvPr>
        </p:nvSpPr>
        <p:spPr>
          <a:xfrm>
            <a:off x="462000" y="1527500"/>
            <a:ext cx="3842400" cy="27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Two-Stage Pipeline Design</a:t>
            </a:r>
            <a:endParaRPr b="1" sz="1600">
              <a:solidFill>
                <a:srgbClr val="000000"/>
              </a:solidFill>
            </a:endParaRPr>
          </a:p>
          <a:p>
            <a:pPr indent="-158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➔"/>
            </a:pPr>
            <a:r>
              <a:rPr b="1" lang="en" sz="1600">
                <a:solidFill>
                  <a:srgbClr val="000000"/>
                </a:solidFill>
              </a:rPr>
              <a:t>Stage 1: </a:t>
            </a:r>
            <a:r>
              <a:rPr lang="en" sz="1600">
                <a:solidFill>
                  <a:srgbClr val="000000"/>
                </a:solidFill>
              </a:rPr>
              <a:t>Image Analysis &amp; OCR</a:t>
            </a:r>
            <a:endParaRPr sz="1600">
              <a:solidFill>
                <a:srgbClr val="000000"/>
              </a:solidFill>
            </a:endParaRPr>
          </a:p>
          <a:p>
            <a:pPr indent="-158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➔"/>
            </a:pPr>
            <a:r>
              <a:rPr b="1" lang="en" sz="1600">
                <a:solidFill>
                  <a:srgbClr val="000000"/>
                </a:solidFill>
              </a:rPr>
              <a:t>Stage 2: </a:t>
            </a:r>
            <a:r>
              <a:rPr lang="en" sz="1600">
                <a:solidFill>
                  <a:srgbClr val="000000"/>
                </a:solidFill>
              </a:rPr>
              <a:t>Document Generation</a:t>
            </a:r>
            <a:endParaRPr sz="1600"/>
          </a:p>
        </p:txBody>
      </p:sp>
      <p:sp>
        <p:nvSpPr>
          <p:cNvPr id="945" name="Google Shape;945;p56"/>
          <p:cNvSpPr txBox="1"/>
          <p:nvPr>
            <p:ph idx="9" type="body"/>
          </p:nvPr>
        </p:nvSpPr>
        <p:spPr>
          <a:xfrm>
            <a:off x="4618950" y="1527500"/>
            <a:ext cx="43446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58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➔"/>
            </a:pPr>
            <a:r>
              <a:rPr b="1" lang="en" sz="1600"/>
              <a:t>Analysis Engine: </a:t>
            </a:r>
            <a:r>
              <a:rPr lang="en" sz="1600">
                <a:highlight>
                  <a:srgbClr val="9FC5E8"/>
                </a:highlight>
              </a:rPr>
              <a:t>PaddleOCR (PP-StructureV3)</a:t>
            </a:r>
            <a:endParaRPr sz="1600">
              <a:highlight>
                <a:srgbClr val="9FC5E8"/>
              </a:highlight>
            </a:endParaRPr>
          </a:p>
          <a:p>
            <a:pPr indent="-158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➔"/>
            </a:pPr>
            <a:r>
              <a:rPr b="1" lang="en" sz="1600"/>
              <a:t>D</a:t>
            </a:r>
            <a:r>
              <a:rPr b="1" lang="en" sz="1600"/>
              <a:t>O</a:t>
            </a:r>
            <a:r>
              <a:rPr b="1" lang="en" sz="1600"/>
              <a:t>CX Generation: </a:t>
            </a:r>
            <a:r>
              <a:rPr lang="en" sz="1600">
                <a:highlight>
                  <a:srgbClr val="9FC5E8"/>
                </a:highlight>
              </a:rPr>
              <a:t>python-docx</a:t>
            </a:r>
            <a:endParaRPr sz="1600">
              <a:highlight>
                <a:srgbClr val="9FC5E8"/>
              </a:highlight>
            </a:endParaRPr>
          </a:p>
          <a:p>
            <a:pPr indent="-158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➔"/>
            </a:pPr>
            <a:r>
              <a:rPr b="1" lang="en" sz="1600"/>
              <a:t>Parsing: </a:t>
            </a:r>
            <a:r>
              <a:rPr lang="en" sz="1600">
                <a:highlight>
                  <a:srgbClr val="9FC5E8"/>
                </a:highlight>
              </a:rPr>
              <a:t>BeautifulSoup &amp; python-markdown</a:t>
            </a:r>
            <a:endParaRPr sz="1600">
              <a:highlight>
                <a:srgbClr val="9FC5E8"/>
              </a:highlight>
            </a:endParaRPr>
          </a:p>
          <a:p>
            <a:pPr indent="-158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➔"/>
            </a:pPr>
            <a:r>
              <a:rPr b="1" lang="en" sz="1600"/>
              <a:t>Syntax Highlighting: </a:t>
            </a:r>
            <a:r>
              <a:rPr lang="en" sz="1600">
                <a:highlight>
                  <a:srgbClr val="9FC5E8"/>
                </a:highlight>
              </a:rPr>
              <a:t>Pygments</a:t>
            </a:r>
            <a:endParaRPr sz="1600">
              <a:highlight>
                <a:srgbClr val="9FC5E8"/>
              </a:highlight>
            </a:endParaRPr>
          </a:p>
        </p:txBody>
      </p:sp>
      <p:sp>
        <p:nvSpPr>
          <p:cNvPr id="946" name="Google Shape;946;p56"/>
          <p:cNvSpPr txBox="1"/>
          <p:nvPr>
            <p:ph idx="19" type="title"/>
          </p:nvPr>
        </p:nvSpPr>
        <p:spPr>
          <a:xfrm>
            <a:off x="385800" y="142600"/>
            <a:ext cx="8278500" cy="9696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Sora"/>
                <a:ea typeface="Sora"/>
                <a:cs typeface="Sora"/>
                <a:sym typeface="Sora"/>
              </a:rPr>
              <a:t>System Architecture &amp; Tech Stack</a:t>
            </a:r>
            <a:endParaRPr b="1" sz="35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7" name="Google Shape;947;p56"/>
          <p:cNvCxnSpPr/>
          <p:nvPr/>
        </p:nvCxnSpPr>
        <p:spPr>
          <a:xfrm>
            <a:off x="704550" y="13411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56"/>
          <p:cNvCxnSpPr/>
          <p:nvPr/>
        </p:nvCxnSpPr>
        <p:spPr>
          <a:xfrm flipH="1">
            <a:off x="4403250" y="1341138"/>
            <a:ext cx="35100" cy="356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7"/>
          <p:cNvSpPr txBox="1"/>
          <p:nvPr>
            <p:ph type="title"/>
          </p:nvPr>
        </p:nvSpPr>
        <p:spPr>
          <a:xfrm>
            <a:off x="239925" y="280825"/>
            <a:ext cx="5193900" cy="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PP-StructureV3 </a:t>
            </a:r>
            <a:r>
              <a:rPr b="1" lang="en" sz="3500"/>
              <a:t>Figure:</a:t>
            </a:r>
            <a:endParaRPr b="1" sz="3500"/>
          </a:p>
        </p:txBody>
      </p:sp>
      <p:pic>
        <p:nvPicPr>
          <p:cNvPr id="954" name="Google Shape;95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50" y="1169500"/>
            <a:ext cx="7073531" cy="38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58"/>
          <p:cNvSpPr txBox="1"/>
          <p:nvPr>
            <p:ph idx="13" type="title"/>
          </p:nvPr>
        </p:nvSpPr>
        <p:spPr>
          <a:xfrm>
            <a:off x="343625" y="274175"/>
            <a:ext cx="22482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Sora"/>
                <a:ea typeface="Sora"/>
                <a:cs typeface="Sora"/>
                <a:sym typeface="Sora"/>
              </a:rPr>
              <a:t>Results</a:t>
            </a:r>
            <a:endParaRPr b="1" sz="3500"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60" name="Google Shape;96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169" y="1536350"/>
            <a:ext cx="3655931" cy="19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775" y="1654275"/>
            <a:ext cx="3927849" cy="1678708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58"/>
          <p:cNvSpPr txBox="1"/>
          <p:nvPr/>
        </p:nvSpPr>
        <p:spPr>
          <a:xfrm>
            <a:off x="1462500" y="3843600"/>
            <a:ext cx="19224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Fig: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Input Image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3" name="Google Shape;963;p58"/>
          <p:cNvSpPr txBox="1"/>
          <p:nvPr/>
        </p:nvSpPr>
        <p:spPr>
          <a:xfrm>
            <a:off x="5841600" y="3811500"/>
            <a:ext cx="19224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Fig: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Output Image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9"/>
          <p:cNvSpPr txBox="1"/>
          <p:nvPr>
            <p:ph idx="1" type="body"/>
          </p:nvPr>
        </p:nvSpPr>
        <p:spPr>
          <a:xfrm>
            <a:off x="191225" y="336300"/>
            <a:ext cx="53691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Impact &amp; Fu</a:t>
            </a:r>
            <a:r>
              <a:rPr b="1" lang="en" sz="35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t</a:t>
            </a:r>
            <a:r>
              <a:rPr b="1" lang="en" sz="35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ure Vision</a:t>
            </a:r>
            <a:endParaRPr sz="3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59"/>
          <p:cNvSpPr txBox="1"/>
          <p:nvPr>
            <p:ph idx="4294967295" type="body"/>
          </p:nvPr>
        </p:nvSpPr>
        <p:spPr>
          <a:xfrm>
            <a:off x="302500" y="941050"/>
            <a:ext cx="5076300" cy="3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Impact:</a:t>
            </a:r>
            <a:endParaRPr b="1" sz="1300">
              <a:solidFill>
                <a:srgbClr val="000000"/>
              </a:solidFill>
            </a:endParaRPr>
          </a:p>
          <a:p>
            <a:pPr indent="-196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>
                <a:solidFill>
                  <a:srgbClr val="000000"/>
                </a:solidFill>
              </a:rPr>
              <a:t>Automates tedious manual conversion work.</a:t>
            </a:r>
            <a:endParaRPr sz="1300">
              <a:solidFill>
                <a:srgbClr val="000000"/>
              </a:solidFill>
            </a:endParaRPr>
          </a:p>
          <a:p>
            <a:pPr indent="-196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>
                <a:solidFill>
                  <a:srgbClr val="000000"/>
                </a:solidFill>
              </a:rPr>
              <a:t>Unlocks critical data from static images.</a:t>
            </a:r>
            <a:endParaRPr sz="1300">
              <a:solidFill>
                <a:srgbClr val="000000"/>
              </a:solidFill>
            </a:endParaRPr>
          </a:p>
          <a:p>
            <a:pPr indent="-196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>
                <a:solidFill>
                  <a:srgbClr val="000000"/>
                </a:solidFill>
              </a:rPr>
              <a:t>Boosts efficiency and improves data accuracy.</a:t>
            </a:r>
            <a:endParaRPr sz="1300">
              <a:solidFill>
                <a:srgbClr val="000000"/>
              </a:solidFill>
            </a:endParaRPr>
          </a:p>
          <a:p>
            <a:pPr indent="-196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>
                <a:solidFill>
                  <a:srgbClr val="000000"/>
                </a:solidFill>
              </a:rPr>
              <a:t>Makes document content searchable and reusable.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Future Vision:</a:t>
            </a:r>
            <a:endParaRPr b="1" sz="1300">
              <a:solidFill>
                <a:srgbClr val="000000"/>
              </a:solidFill>
            </a:endParaRPr>
          </a:p>
          <a:p>
            <a:pPr indent="-196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>
                <a:solidFill>
                  <a:srgbClr val="000000"/>
                </a:solidFill>
              </a:rPr>
              <a:t>Enhance table recognition for complex merges.</a:t>
            </a:r>
            <a:endParaRPr sz="1300">
              <a:solidFill>
                <a:srgbClr val="000000"/>
              </a:solidFill>
            </a:endParaRPr>
          </a:p>
          <a:p>
            <a:pPr indent="-196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>
                <a:solidFill>
                  <a:srgbClr val="000000"/>
                </a:solidFill>
              </a:rPr>
              <a:t>Implement support for editable math equations.</a:t>
            </a:r>
            <a:endParaRPr sz="1300">
              <a:solidFill>
                <a:srgbClr val="000000"/>
              </a:solidFill>
            </a:endParaRPr>
          </a:p>
          <a:p>
            <a:pPr indent="-196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>
                <a:solidFill>
                  <a:srgbClr val="000000"/>
                </a:solidFill>
              </a:rPr>
              <a:t>Develop a simple user interface (GUI) for easy use.</a:t>
            </a:r>
            <a:endParaRPr sz="1300">
              <a:solidFill>
                <a:srgbClr val="000000"/>
              </a:solidFill>
            </a:endParaRPr>
          </a:p>
          <a:p>
            <a:pPr indent="-196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>
                <a:solidFill>
                  <a:srgbClr val="000000"/>
                </a:solidFill>
              </a:rPr>
              <a:t>Enable batch processing for large document sets.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0"/>
          <p:cNvSpPr txBox="1"/>
          <p:nvPr>
            <p:ph type="title"/>
          </p:nvPr>
        </p:nvSpPr>
        <p:spPr>
          <a:xfrm>
            <a:off x="2662050" y="1722325"/>
            <a:ext cx="3819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Q&amp;A /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